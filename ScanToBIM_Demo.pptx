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71" r:id="rId10"/>
    <p:sldId id="272" r:id="rId11"/>
    <p:sldId id="270" r:id="rId12"/>
    <p:sldId id="262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A2B79-D02D-4052-B29C-57FC06259FB8}" v="4" dt="2026-08-10T20:31:2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932" autoAdjust="0"/>
  </p:normalViewPr>
  <p:slideViewPr>
    <p:cSldViewPr snapToGrid="0" snapToObjects="1">
      <p:cViewPr varScale="1">
        <p:scale>
          <a:sx n="75" d="100"/>
          <a:sy n="75" d="100"/>
        </p:scale>
        <p:origin x="950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aling Wei" userId="8ee3e1a2-e3db-405c-9cc3-e4137a4939b6" providerId="ADAL" clId="{7DEB299D-DB4C-4825-B2B9-471A8E07EF43}"/>
    <pc:docChg chg="undo custSel addSld delSld modSld sldOrd">
      <pc:chgData name="Chialing Wei" userId="8ee3e1a2-e3db-405c-9cc3-e4137a4939b6" providerId="ADAL" clId="{7DEB299D-DB4C-4825-B2B9-471A8E07EF43}" dt="2026-08-10T20:32:09.657" v="960" actId="1076"/>
      <pc:docMkLst>
        <pc:docMk/>
      </pc:docMkLst>
      <pc:sldChg chg="addSp delSp modSp mod modNotesTx">
        <pc:chgData name="Chialing Wei" userId="8ee3e1a2-e3db-405c-9cc3-e4137a4939b6" providerId="ADAL" clId="{7DEB299D-DB4C-4825-B2B9-471A8E07EF43}" dt="2026-08-10T20:32:09.657" v="960" actId="1076"/>
        <pc:sldMkLst>
          <pc:docMk/>
          <pc:sldMk cId="0" sldId="260"/>
        </pc:sldMkLst>
        <pc:spChg chg="mod">
          <ac:chgData name="Chialing Wei" userId="8ee3e1a2-e3db-405c-9cc3-e4137a4939b6" providerId="ADAL" clId="{7DEB299D-DB4C-4825-B2B9-471A8E07EF43}" dt="2026-08-10T20:31:17.049" v="940" actId="1076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Chialing Wei" userId="8ee3e1a2-e3db-405c-9cc3-e4137a4939b6" providerId="ADAL" clId="{7DEB299D-DB4C-4825-B2B9-471A8E07EF43}" dt="2026-08-10T20:32:09.657" v="960" actId="1076"/>
          <ac:spMkLst>
            <pc:docMk/>
            <pc:sldMk cId="0" sldId="260"/>
            <ac:spMk id="8" creationId="{BFBF5077-37DA-5CE9-616A-62FA2138E9DE}"/>
          </ac:spMkLst>
        </pc:spChg>
        <pc:picChg chg="mod">
          <ac:chgData name="Chialing Wei" userId="8ee3e1a2-e3db-405c-9cc3-e4137a4939b6" providerId="ADAL" clId="{7DEB299D-DB4C-4825-B2B9-471A8E07EF43}" dt="2026-08-10T20:31:55.879" v="957" actId="1076"/>
          <ac:picMkLst>
            <pc:docMk/>
            <pc:sldMk cId="0" sldId="260"/>
            <ac:picMk id="15" creationId="{27474DDA-D0D7-45F9-C577-F518E738DA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BA02F-2060-41D6-B372-522C8B8827A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F1C7D-68A8-4B90-8B29-0FB2B7B1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9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E57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29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</a:t>
            </a:r>
            <a:r>
              <a:rPr lang="en-US" dirty="0" err="1"/>
              <a:t>pointnet</a:t>
            </a:r>
            <a:r>
              <a:rPr lang="en-US" dirty="0"/>
              <a:t>++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5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 fitting (RANSAC), convex hull </a:t>
            </a:r>
            <a:r>
              <a:rPr lang="en-US" dirty="0" err="1"/>
              <a:t>alphashape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38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685E-25B5-DAFF-3B6B-9732A184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0FFC4-8469-4A39-F086-1934AC354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EA858-017B-B74D-F11F-0B3E99A03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 fitting (RANSAC), convex hull </a:t>
            </a:r>
            <a:r>
              <a:rPr lang="en-US" dirty="0" err="1"/>
              <a:t>alphashape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778B7-6962-F172-070E-C8A81CCA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46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2E71-64B3-E299-E77A-577D53D0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C45B7-2B37-E913-E6F8-4408554C2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2FBDF-09D5-B60A-2EC4-D13CD0B9B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 fitting (RANSAC), convex hull </a:t>
            </a:r>
            <a:r>
              <a:rPr lang="en-US" dirty="0" err="1"/>
              <a:t>alphashape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BBF2E-7DAF-7475-40B5-4B4E0FCD0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5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segmentation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4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8602-7F40-AEF0-26CA-10CED52A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7373C-FD92-9201-FCB4-1AAE55DD5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D5CE7-6D68-3580-6657-950BDD08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segmentation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BC69D-6832-3519-E2C3-EEFE60C83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1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3A24-FEDA-9E09-A146-A57B498E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5CF9E-9396-4F4C-9574-27A09FBA9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AFBD0-EC8A-D773-BFB9-009CEE6A5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segmentation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E2948-8103-61C5-A9BF-DD96B1B8A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87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FFD2D-CEE4-A853-5BF1-FB26B2A1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A4943-9060-98A3-20EE-CE14D0D25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8B8E7-7B78-2D3B-196A-D7F7C3DD5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segmentation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D8C3-7288-6A05-04D2-014CDA5A4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64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Groundingdino</a:t>
            </a:r>
            <a:r>
              <a:rPr lang="en-US" dirty="0"/>
              <a:t>, log(count) image histogram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F1C7D-68A8-4B90-8B29-0FB2B7B167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3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From Laser Scan to BIM</a:t>
            </a:r>
          </a:p>
          <a:p>
            <a:pPr algn="l"/>
            <a:r>
              <a:rPr sz="2000" b="0">
                <a:solidFill>
                  <a:srgbClr val="EAF0F6"/>
                </a:solidFill>
                <a:latin typeface="Calibri"/>
              </a:rPr>
              <a:t>Turning a raw 3D scan into structured building elements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4A259"/>
                </a:solidFill>
                <a:latin typeface="Calibri"/>
              </a:rPr>
              <a:t>Automated Point-Cloud Post-Processing Pipeline</a:t>
            </a:r>
          </a:p>
          <a:p>
            <a:pPr algn="l"/>
            <a:r>
              <a:rPr sz="1300" b="0">
                <a:solidFill>
                  <a:srgbClr val="EAF0F6"/>
                </a:solidFill>
                <a:latin typeface="Calibri"/>
              </a:rPr>
              <a:t>Demo  ·  DLR Group  ·  Computational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It Works: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4E89"/>
                </a:solidFill>
                <a:latin typeface="Calibri"/>
              </a:rPr>
              <a:t>One automated pipeline takes the raw scan and outputs model-ready building geometry.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68880"/>
            <a:ext cx="1944563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Input
Point Cloud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2212848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92619" y="3218688"/>
            <a:ext cx="338328" cy="329184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67523" y="2468880"/>
            <a:ext cx="1944563" cy="18288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Point
Segmentation
(4 classes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: floor, ceiling, wall, other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2877251" y="2212848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48662" y="3218688"/>
            <a:ext cx="338328" cy="329184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3566" y="2468880"/>
            <a:ext cx="1944563" cy="18288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Ceiling
&amp; Floor</a:t>
            </a:r>
          </a:p>
        </p:txBody>
      </p:sp>
      <p:sp>
        <p:nvSpPr>
          <p:cNvPr id="13" name="Oval 12"/>
          <p:cNvSpPr/>
          <p:nvPr/>
        </p:nvSpPr>
        <p:spPr>
          <a:xfrm>
            <a:off x="5233294" y="2212848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04705" y="3218688"/>
            <a:ext cx="338328" cy="329184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79609" y="2468880"/>
            <a:ext cx="1944563" cy="18288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Wall</a:t>
            </a:r>
          </a:p>
        </p:txBody>
      </p:sp>
      <p:sp>
        <p:nvSpPr>
          <p:cNvPr id="16" name="Oval 15"/>
          <p:cNvSpPr/>
          <p:nvPr/>
        </p:nvSpPr>
        <p:spPr>
          <a:xfrm>
            <a:off x="7589337" y="2212848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60748" y="3218688"/>
            <a:ext cx="338328" cy="329184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35652" y="2468880"/>
            <a:ext cx="1944563" cy="18288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Openings
(door &amp; window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&amp; opening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9" name="Oval 18"/>
          <p:cNvSpPr/>
          <p:nvPr/>
        </p:nvSpPr>
        <p:spPr>
          <a:xfrm>
            <a:off x="9945380" y="2212848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937760"/>
            <a:ext cx="11368735" cy="86868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956048"/>
            <a:ext cx="113687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Calibri"/>
              </a:rPr>
              <a:t>Output:  floors, ceilings, walls, doors &amp; windows  —  as clean, model-ready geometry (BIM)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1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Input: The 3D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A laser scanner captures the building as millions of 3D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78881"/>
            <a:ext cx="109728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Each point has a 3D position</a:t>
            </a:r>
            <a:r>
              <a:rPr lang="en-US" sz="1500" dirty="0">
                <a:solidFill>
                  <a:srgbClr val="4A4A4A"/>
                </a:solidFill>
                <a:latin typeface="Calibri"/>
              </a:rPr>
              <a:t> and 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color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: x y z r g b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unstructured — just dots, no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label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 yet</a:t>
            </a:r>
          </a:p>
          <a:p>
            <a:pPr algn="l">
              <a:spcAft>
                <a:spcPts val="900"/>
              </a:spcAft>
            </a:pP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6EC271-1D10-BA97-3C34-93199D06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356" y="2350007"/>
            <a:ext cx="7270915" cy="3906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B9E9EA-76BE-3888-74D1-ACB8AD83C51E}"/>
              </a:ext>
            </a:extLst>
          </p:cNvPr>
          <p:cNvSpPr txBox="1"/>
          <p:nvPr/>
        </p:nvSpPr>
        <p:spPr>
          <a:xfrm>
            <a:off x="6898999" y="6256682"/>
            <a:ext cx="609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WyomingStateFair_Laramie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2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Understanding the Scan: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700" b="1" dirty="0">
                <a:solidFill>
                  <a:srgbClr val="1D4E89"/>
                </a:solidFill>
                <a:latin typeface="Calibri"/>
              </a:rPr>
              <a:t>Revit model </a:t>
            </a:r>
            <a:r>
              <a:rPr sz="1700" b="1" dirty="0">
                <a:solidFill>
                  <a:srgbClr val="1D4E89"/>
                </a:solidFill>
                <a:latin typeface="Calibri"/>
              </a:rPr>
              <a:t>labels every point as one of four basic 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760720" cy="1031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PointNet</a:t>
            </a:r>
            <a:r>
              <a:rPr lang="en-US" sz="1600" dirty="0">
                <a:effectLst/>
                <a:latin typeface="Calibri" panose="020F0502020204030204" pitchFamily="34" charset="0"/>
              </a:rPr>
              <a:t>++ </a:t>
            </a:r>
            <a:r>
              <a:rPr sz="1500" b="0" dirty="0">
                <a:solidFill>
                  <a:srgbClr val="4A4A4A"/>
                </a:solidFill>
                <a:latin typeface="Calibri"/>
              </a:rPr>
              <a:t>model</a:t>
            </a:r>
            <a:endParaRPr lang="en-US" sz="150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Every point is sorted into Floor, Ceiling, Wall, or Other</a:t>
            </a:r>
          </a:p>
          <a:p>
            <a:pPr algn="l">
              <a:spcAft>
                <a:spcPts val="900"/>
              </a:spcAft>
            </a:pP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75120" y="2286000"/>
            <a:ext cx="4937760" cy="393192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4E89"/>
                </a:solidFill>
                <a:latin typeface="Calibri"/>
              </a:rPr>
              <a:t>The four point types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306324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30449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Floor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776472"/>
            <a:ext cx="411480" cy="41148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375818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Ceiling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4489704"/>
            <a:ext cx="411480" cy="4114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447141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Wall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5202936"/>
            <a:ext cx="411480" cy="41148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518464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3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Floors &amp; Ceilings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Turn labeled points into clean, flat floor and ceiling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240" y="1929185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DBSCAN clustering 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RANSAC plane fitting</a:t>
            </a:r>
          </a:p>
          <a:p>
            <a:pPr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Convex hull for boundary </a:t>
            </a:r>
            <a:r>
              <a:rPr lang="en-US" sz="1500" dirty="0">
                <a:solidFill>
                  <a:schemeClr val="bg2">
                    <a:lumMod val="90000"/>
                  </a:schemeClr>
                </a:solidFill>
              </a:rPr>
              <a:t>edge points</a:t>
            </a:r>
            <a:endParaRPr lang="en-US"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Replaces scattered dots with clean, simple shapes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474DDA-D0D7-45F9-C577-F518E738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450" y="1307592"/>
            <a:ext cx="5387698" cy="3306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BF5077-37DA-5CE9-616A-62FA2138E9DE}"/>
              </a:ext>
            </a:extLst>
          </p:cNvPr>
          <p:cNvSpPr txBox="1"/>
          <p:nvPr/>
        </p:nvSpPr>
        <p:spPr>
          <a:xfrm>
            <a:off x="309880" y="3291096"/>
            <a:ext cx="990578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DBSCAN EPS = 0.5 </a:t>
            </a:r>
          </a:p>
          <a:p>
            <a:r>
              <a:rPr lang="en-US" dirty="0"/>
              <a:t>MIN_SAMPLES = 10 </a:t>
            </a:r>
          </a:p>
          <a:p>
            <a:r>
              <a:rPr lang="en-US" dirty="0"/>
              <a:t># Floor RANSAC DIS_THR_F = 1 </a:t>
            </a:r>
          </a:p>
          <a:p>
            <a:r>
              <a:rPr lang="en-US" dirty="0"/>
              <a:t>RANSAC_N_F = 10 </a:t>
            </a:r>
          </a:p>
          <a:p>
            <a:r>
              <a:rPr lang="en-US" dirty="0"/>
              <a:t>NUM_ITER_F = 1000 </a:t>
            </a:r>
          </a:p>
          <a:p>
            <a:r>
              <a:rPr lang="en-US" dirty="0"/>
              <a:t>ALPHA_F = 1 </a:t>
            </a:r>
          </a:p>
          <a:p>
            <a:r>
              <a:rPr lang="en-US" dirty="0"/>
              <a:t># Ceiling RANSAC DIS_THR_C = 4 </a:t>
            </a:r>
          </a:p>
          <a:p>
            <a:r>
              <a:rPr lang="en-US" dirty="0"/>
              <a:t>RANSAC_N_C = 10 </a:t>
            </a:r>
          </a:p>
          <a:p>
            <a:r>
              <a:rPr lang="en-US" dirty="0"/>
              <a:t>NUM_ITER_C = 1000 </a:t>
            </a:r>
          </a:p>
          <a:p>
            <a:r>
              <a:rPr lang="en-US" dirty="0"/>
              <a:t>ALPHA_C = 1 </a:t>
            </a:r>
          </a:p>
          <a:p>
            <a:r>
              <a:rPr lang="en-US" dirty="0"/>
              <a:t>PROJECTED_BINS = 300 </a:t>
            </a:r>
          </a:p>
          <a:p>
            <a:r>
              <a:rPr lang="en-US" dirty="0"/>
              <a:t>RESIZE_WIDTH = 400 INT_THR = 35 SCORE_THR = 0.55 VERT_THR = 10 HORI_THR = 0.1 BUFFER_THR =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C035-9120-DB5D-5BA4-B86F10CF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3042BC-316E-FE45-04F6-C4C27AF6CE52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A336B-DFBD-46E3-DD19-B5C8CD0E84A4}"/>
              </a:ext>
            </a:extLst>
          </p:cNvPr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3C03698-B471-F513-AE96-AE9B33B7CC1E}"/>
              </a:ext>
            </a:extLst>
          </p:cNvPr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8801-78AC-6E80-F853-F72D8C27FCED}"/>
              </a:ext>
            </a:extLst>
          </p:cNvPr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3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Floors &amp; Ceilings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8CCB-3621-CE1F-2521-CCE63922B3A4}"/>
              </a:ext>
            </a:extLst>
          </p:cNvPr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Turn labeled points into clean, flat floor and ceiling surfaces.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3F450-F8DF-6744-14FE-F8AC18442C7B}"/>
              </a:ext>
            </a:extLst>
          </p:cNvPr>
          <p:cNvSpPr txBox="1"/>
          <p:nvPr/>
        </p:nvSpPr>
        <p:spPr>
          <a:xfrm>
            <a:off x="60960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DBSCAN clustering </a:t>
            </a: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RANSCAN plane fitting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Convex hull for boundary </a:t>
            </a:r>
            <a:r>
              <a:rPr lang="en-US" sz="150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edge points</a:t>
            </a:r>
            <a:endParaRPr lang="en-US"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Replaces scattered dots with clean, simple shapes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10D489-23D9-EEFB-21B0-94698662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04" y="1368911"/>
            <a:ext cx="5116996" cy="2654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9443F-FF85-08FD-309A-1D877D320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891" y="4185256"/>
            <a:ext cx="5546035" cy="240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2666-36EC-8391-F32A-59F289FEF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6D6504-4D16-5CAE-323F-9FB4814348B7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45E77-4177-F99E-030F-834BDD05EBC1}"/>
              </a:ext>
            </a:extLst>
          </p:cNvPr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77819D-9A4F-47AC-A4E9-B9A2C544B8F2}"/>
              </a:ext>
            </a:extLst>
          </p:cNvPr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3BE0B-F10A-9A9A-F30C-5E7CC2D0D5CC}"/>
              </a:ext>
            </a:extLst>
          </p:cNvPr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3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Floors &amp; Ceilings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13287-FD72-6B19-A050-BC483601F625}"/>
              </a:ext>
            </a:extLst>
          </p:cNvPr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Turn labeled points into clean, flat floor and ceiling surfaces.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4C72C-FB68-757C-4E84-4F4B2062CAD9}"/>
              </a:ext>
            </a:extLst>
          </p:cNvPr>
          <p:cNvSpPr txBox="1"/>
          <p:nvPr/>
        </p:nvSpPr>
        <p:spPr>
          <a:xfrm>
            <a:off x="60960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DBSCAN clustering </a:t>
            </a: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RANSCAN plane fitting</a:t>
            </a:r>
          </a:p>
          <a:p>
            <a:pPr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Convex hull for boundary </a:t>
            </a:r>
            <a:r>
              <a:rPr lang="en-US" sz="1500" dirty="0"/>
              <a:t>edge points</a:t>
            </a:r>
            <a:endParaRPr lang="en-US" sz="1500" b="0" dirty="0"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Replaces scattered dots with clean, simple shapes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E6BEDA-14DB-FA00-B09B-0DB2222F0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503" y="1930552"/>
            <a:ext cx="5360236" cy="45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Reconstruct the room layout from the wall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project points to floor and create 2D histogram image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  line segmentation </a:t>
            </a: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separate vertical and horizontal lines</a:t>
            </a:r>
          </a:p>
          <a:p>
            <a:pPr algn="l">
              <a:spcAft>
                <a:spcPts val="900"/>
              </a:spcAft>
            </a:pP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merge adjacent lines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C2342-5A81-A0E3-69A6-CC024D72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18" y="2876501"/>
            <a:ext cx="6675549" cy="2644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4FD7-EA06-BC53-A922-B1EF33C0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8F4E90-28C6-33A5-8D6F-737CC2DBCC83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1596F-30C5-338A-41AC-2656920D3916}"/>
              </a:ext>
            </a:extLst>
          </p:cNvPr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BA44FC-86B6-CBDC-3202-9FB3F8965FE1}"/>
              </a:ext>
            </a:extLst>
          </p:cNvPr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BD8F7-C861-0987-EC7E-4B984BCF167D}"/>
              </a:ext>
            </a:extLst>
          </p:cNvPr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53F18-F87D-5B63-12D2-696F6AA7890E}"/>
              </a:ext>
            </a:extLst>
          </p:cNvPr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Reconstruct the room layout from the wall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F4CEC-D7E6-1619-2467-C62F2DCF7E11}"/>
              </a:ext>
            </a:extLst>
          </p:cNvPr>
          <p:cNvSpPr txBox="1"/>
          <p:nvPr/>
        </p:nvSpPr>
        <p:spPr>
          <a:xfrm>
            <a:off x="64008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project points to floor and create 2D histogram image</a:t>
            </a:r>
            <a:endParaRPr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latin typeface="Calibri"/>
              </a:rPr>
              <a:t>•  </a:t>
            </a:r>
            <a:r>
              <a:rPr lang="en-US" sz="1500" b="0" dirty="0">
                <a:latin typeface="Calibri"/>
              </a:rPr>
              <a:t>line segmentation </a:t>
            </a:r>
            <a:endParaRPr sz="1500" b="0" dirty="0"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latin typeface="Calibri"/>
              </a:rPr>
              <a:t>•  </a:t>
            </a:r>
            <a:r>
              <a:rPr lang="en-US" sz="1500" b="0" dirty="0">
                <a:latin typeface="Calibri"/>
              </a:rPr>
              <a:t>separate vertical and horizontal lines</a:t>
            </a:r>
            <a:endParaRPr sz="1500" b="0" dirty="0"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merge adjacent lines</a:t>
            </a:r>
            <a:endParaRPr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8C15D0-D0D1-E8A9-DC74-CBEF3F3E6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830" y="3197437"/>
            <a:ext cx="3779848" cy="2972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70EE54-F9A8-E1F2-9272-E69B7312E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132" y="2008052"/>
            <a:ext cx="2046147" cy="43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5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8567-5C22-EC77-B329-B0C8F093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86F8F0-BBE6-A07B-DC34-13073376AAC5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9C69A-1379-90F4-F1AF-C7E19309423D}"/>
              </a:ext>
            </a:extLst>
          </p:cNvPr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9DE14E2-D2DF-8E82-779F-F203B41CA4E4}"/>
              </a:ext>
            </a:extLst>
          </p:cNvPr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C9964-104E-97B5-9A49-72FC57F749D1}"/>
              </a:ext>
            </a:extLst>
          </p:cNvPr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24833-6544-E769-CE8C-2488D00F9B48}"/>
              </a:ext>
            </a:extLst>
          </p:cNvPr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Reconstruct the room layout from the wall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6CDF0-6E14-CDA4-B275-79FAAF63724D}"/>
              </a:ext>
            </a:extLst>
          </p:cNvPr>
          <p:cNvSpPr txBox="1"/>
          <p:nvPr/>
        </p:nvSpPr>
        <p:spPr>
          <a:xfrm>
            <a:off x="64008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project points to floor and create 2D histogram image</a:t>
            </a:r>
            <a:endParaRPr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line segmentation </a:t>
            </a:r>
            <a:endParaRPr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chemeClr val="bg2">
                    <a:lumMod val="90000"/>
                  </a:schemeClr>
                </a:solidFill>
                <a:latin typeface="Calibri"/>
              </a:rPr>
              <a:t>separate vertical and horizontal lines</a:t>
            </a:r>
            <a:endParaRPr sz="1500" b="0" dirty="0">
              <a:solidFill>
                <a:schemeClr val="bg2">
                  <a:lumMod val="90000"/>
                </a:schemeClr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latin typeface="Calibri"/>
              </a:rPr>
              <a:t>•  </a:t>
            </a:r>
            <a:r>
              <a:rPr lang="en-US" sz="1500" b="0" dirty="0">
                <a:latin typeface="Calibri"/>
              </a:rPr>
              <a:t>merge adjacent lines</a:t>
            </a:r>
            <a:endParaRPr sz="1500" b="0" dirty="0"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CA9B53-C4D1-0A0A-D70C-442A266CD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548" y="2221992"/>
            <a:ext cx="2050353" cy="3940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B74A0-527C-22F9-AE81-9ECAF6F0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120" y="2283137"/>
            <a:ext cx="1600339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18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0879-07ED-6ECD-8D18-9C531687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EB3B3-684B-DEC6-CEA8-8E810E4C3E30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061EA0-CE20-8F45-BE3B-9EF9C0A9C567}"/>
              </a:ext>
            </a:extLst>
          </p:cNvPr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F32A21-1180-3617-DBF9-DE3F73059C70}"/>
              </a:ext>
            </a:extLst>
          </p:cNvPr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C2E3C-6214-6E01-7EEF-230E061CE753}"/>
              </a:ext>
            </a:extLst>
          </p:cNvPr>
          <p:cNvSpPr txBox="1"/>
          <p:nvPr/>
        </p:nvSpPr>
        <p:spPr>
          <a:xfrm>
            <a:off x="1143000" y="1645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A259"/>
                </a:solidFill>
                <a:latin typeface="Calibri"/>
              </a:rPr>
              <a:t>STEP 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A1F9D-F911-C5B0-CF93-E7CCDDBCF55F}"/>
              </a:ext>
            </a:extLst>
          </p:cNvPr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4E89"/>
                </a:solidFill>
                <a:latin typeface="Calibri"/>
              </a:rPr>
              <a:t>Reconstruct the room layout from the wall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F7F53-ECA6-1ED6-A975-F74925C0D104}"/>
              </a:ext>
            </a:extLst>
          </p:cNvPr>
          <p:cNvSpPr txBox="1"/>
          <p:nvPr/>
        </p:nvSpPr>
        <p:spPr>
          <a:xfrm>
            <a:off x="640080" y="2331720"/>
            <a:ext cx="10972800" cy="1361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project points to floor and create 2D histogram image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line segmentation 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separate vertical and horizontal lines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merge adjacent lines</a:t>
            </a: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791F27-416C-74CA-2261-7917753A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2" y="3880430"/>
            <a:ext cx="5754757" cy="2626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55CA30-C1DC-CA55-BD7E-45508F925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243" y="3434366"/>
            <a:ext cx="5587448" cy="319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8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74320"/>
            <a:ext cx="603504" cy="6035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515600" cy="7335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F4A259"/>
                </a:solidFill>
                <a:latin typeface="Calibri"/>
              </a:rPr>
              <a:t>STEP 5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Doors &amp; Windows </a:t>
            </a:r>
            <a:r>
              <a:rPr lang="en-US" sz="2800" b="1">
                <a:solidFill>
                  <a:srgbClr val="FFFFFF"/>
                </a:solidFill>
                <a:latin typeface="Calibri"/>
              </a:rPr>
              <a:t>&amp; </a:t>
            </a:r>
            <a:r>
              <a:rPr sz="2800" b="1">
                <a:solidFill>
                  <a:srgbClr val="FFFFFF"/>
                </a:solidFill>
                <a:latin typeface="Calibri"/>
              </a:rPr>
              <a:t>Openings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D4E89"/>
                </a:solidFill>
                <a:latin typeface="Calibri"/>
              </a:rPr>
              <a:t>Find openings on each</a:t>
            </a:r>
            <a:r>
              <a:rPr lang="en-US" sz="1700" b="1" dirty="0">
                <a:solidFill>
                  <a:srgbClr val="1D4E89"/>
                </a:solidFill>
                <a:latin typeface="Calibri"/>
              </a:rPr>
              <a:t> predicted</a:t>
            </a:r>
            <a:r>
              <a:rPr sz="1700" b="1" dirty="0">
                <a:solidFill>
                  <a:srgbClr val="1D4E89"/>
                </a:solidFill>
                <a:latin typeface="Calibri"/>
              </a:rPr>
              <a:t>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5936"/>
            <a:ext cx="57607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 err="1">
                <a:solidFill>
                  <a:srgbClr val="4A4A4A"/>
                </a:solidFill>
                <a:latin typeface="Calibri"/>
              </a:rPr>
              <a:t>GroundingDino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 model: image + text prompt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 lvl="1">
              <a:spcAft>
                <a:spcPts val="900"/>
              </a:spcAft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• 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image: true color/projected histogram</a:t>
            </a:r>
          </a:p>
          <a:p>
            <a:pPr lvl="1">
              <a:spcAft>
                <a:spcPts val="900"/>
              </a:spcAft>
            </a:pPr>
            <a:r>
              <a:rPr lang="en-US" sz="1500" dirty="0">
                <a:solidFill>
                  <a:srgbClr val="4A4A4A"/>
                </a:solidFill>
              </a:rPr>
              <a:t>•  text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prompt: window/door/opening</a:t>
            </a: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pic>
        <p:nvPicPr>
          <p:cNvPr id="8" name="Picture 7" descr="wall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428861"/>
            <a:ext cx="7993669" cy="569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36306E-9055-31D5-B9C2-E4098CE59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599197"/>
            <a:ext cx="7993666" cy="569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FF39ED-C5E5-1C06-1FEC-D23CD345C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5715000"/>
            <a:ext cx="7993669" cy="5691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F6A756-3904-1D5A-1294-AC1376486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185" y="1795298"/>
            <a:ext cx="7234431" cy="11463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2EB03-76DC-DBB3-066E-3415BFA5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53" y="933233"/>
            <a:ext cx="10878493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4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0F677-3DD4-696E-D491-43A2D32A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43" y="977052"/>
            <a:ext cx="10886113" cy="49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5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789F5-01D1-3F3E-51A0-A9ACF6C3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1336"/>
            <a:ext cx="12192000" cy="297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84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F66BF-BDEB-ABBB-BDB6-1F2BD28D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8636"/>
            <a:ext cx="12192000" cy="26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6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4345</TotalTime>
  <Words>668</Words>
  <Application>Microsoft Office PowerPoint</Application>
  <PresentationFormat>Widescreen</PresentationFormat>
  <Paragraphs>130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Chialing Wei</cp:lastModifiedBy>
  <cp:revision>1</cp:revision>
  <dcterms:created xsi:type="dcterms:W3CDTF">2013-01-27T09:14:16Z</dcterms:created>
  <dcterms:modified xsi:type="dcterms:W3CDTF">2026-08-10T20:32:10Z</dcterms:modified>
  <cp:category/>
</cp:coreProperties>
</file>